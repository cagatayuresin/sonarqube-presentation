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5143500" cx="9144000"/>
  <p:notesSz cx="6858000" cy="9144000"/>
  <p:embeddedFontLst>
    <p:embeddedFont>
      <p:font typeface="Source Code Pro"/>
      <p:regular r:id="rId33"/>
      <p:bold r:id="rId34"/>
      <p:italic r:id="rId35"/>
      <p:boldItalic r:id="rId36"/>
    </p:embeddedFont>
    <p:embeddedFont>
      <p:font typeface="Oswald"/>
      <p:regular r:id="rId37"/>
      <p:bold r:id="rId38"/>
    </p:embeddedFont>
    <p:embeddedFont>
      <p:font typeface="Roboto Mono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Mono-bold.fntdata"/><Relationship Id="rId20" Type="http://schemas.openxmlformats.org/officeDocument/2006/relationships/slide" Target="slides/slide15.xml"/><Relationship Id="rId42" Type="http://schemas.openxmlformats.org/officeDocument/2006/relationships/font" Target="fonts/RobotoMono-boldItalic.fntdata"/><Relationship Id="rId41" Type="http://schemas.openxmlformats.org/officeDocument/2006/relationships/font" Target="fonts/RobotoMono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SourceCodePro-regular.fntdata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SourceCodePro-italic.fntdata"/><Relationship Id="rId12" Type="http://schemas.openxmlformats.org/officeDocument/2006/relationships/slide" Target="slides/slide7.xml"/><Relationship Id="rId34" Type="http://schemas.openxmlformats.org/officeDocument/2006/relationships/font" Target="fonts/SourceCodePro-bold.fntdata"/><Relationship Id="rId15" Type="http://schemas.openxmlformats.org/officeDocument/2006/relationships/slide" Target="slides/slide10.xml"/><Relationship Id="rId37" Type="http://schemas.openxmlformats.org/officeDocument/2006/relationships/font" Target="fonts/Oswald-regular.fntdata"/><Relationship Id="rId14" Type="http://schemas.openxmlformats.org/officeDocument/2006/relationships/slide" Target="slides/slide9.xml"/><Relationship Id="rId36" Type="http://schemas.openxmlformats.org/officeDocument/2006/relationships/font" Target="fonts/SourceCodePro-boldItalic.fntdata"/><Relationship Id="rId17" Type="http://schemas.openxmlformats.org/officeDocument/2006/relationships/slide" Target="slides/slide12.xml"/><Relationship Id="rId39" Type="http://schemas.openxmlformats.org/officeDocument/2006/relationships/font" Target="fonts/RobotoMono-regular.fntdata"/><Relationship Id="rId16" Type="http://schemas.openxmlformats.org/officeDocument/2006/relationships/slide" Target="slides/slide11.xml"/><Relationship Id="rId38" Type="http://schemas.openxmlformats.org/officeDocument/2006/relationships/font" Target="fonts/Oswald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">
                <a:solidFill>
                  <a:schemeClr val="dk1"/>
                </a:solidFill>
              </a:rPr>
              <a:t>SonarQube</a:t>
            </a:r>
            <a:r>
              <a:rPr lang="tr">
                <a:solidFill>
                  <a:schemeClr val="dk1"/>
                </a:solidFill>
              </a:rPr>
              <a:t>: Başlangıçta Java dünyasında kod kalitesine odaklı popülerleşiyor. Zamanla çok sayıda dili destekleyen, güvenlik ve kaliteyi birleştiren bir platforma dönüşüyor.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9adc99227_0_3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9adc99227_0_3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“DevSecOps”un açılımını söyle: Development – Security – Operations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Güvenliğin sonradan eklenen bir şey olmadığını, sürecin içine gömülü olduğunu vurgula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SAST’in “kod çalışmadan” çalışan analiz olduğunu söyle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Burada SonarQube ismini kısa bir kere an, detayına sonra gireceğini söyle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Vurgu cümlesi: “Bu sunumda sadece kavram anlatmakla kalmayacağım, canlı çalışan bir sistem göstereceğim.”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">
                <a:solidFill>
                  <a:schemeClr val="dk1"/>
                </a:solidFill>
              </a:rPr>
              <a:t>SAST (Static Application Security Testing)</a:t>
            </a:r>
            <a:r>
              <a:rPr lang="tr">
                <a:solidFill>
                  <a:schemeClr val="dk1"/>
                </a:solidFill>
              </a:rPr>
              <a:t>: Uygulama kaynak kodunu analiz eden test yaklaşımı; genelde derleme veya build pipeline’ı ile entegre olur. Karşıtı gibi düşünebileceğin DAST ise çalışan uygulama üzerinde saldırı yaparak test ediyor.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a9adc99227_0_3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a9adc99227_0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tr">
                <a:solidFill>
                  <a:schemeClr val="dk1"/>
                </a:solidFill>
              </a:rPr>
              <a:t>DevOps</a:t>
            </a:r>
            <a:r>
              <a:rPr lang="tr">
                <a:solidFill>
                  <a:schemeClr val="dk1"/>
                </a:solidFill>
              </a:rPr>
              <a:t>: Terim olarak ilk kez 2009 civarında popülerleşiyor; “Development” ve “Operations” kelimelerinin birleşimi. Ama fikir olarak kökleri daha eskiye, Agile ve otomasyon kültürüne dayanıyor.</a:t>
            </a:r>
            <a:br>
              <a:rPr lang="tr"/>
            </a:br>
            <a:br>
              <a:rPr lang="tr"/>
            </a:br>
            <a:r>
              <a:rPr lang="tr"/>
              <a:t>DevOps’u süslü kelimelerle değil, sade dille anlat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CI/CD terimlerini yaz ama slaytta boğma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“Güvenlik bu döngüde genelde ya test aşamasında ya da production’da fark ediliyor” de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Bir cümlede “güvenlik sonradan eklenen bir eklenti gibi kalıyor” benzetmesi yap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a9adc99227_0_3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a9adc99227_0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">
                <a:solidFill>
                  <a:schemeClr val="dk1"/>
                </a:solidFill>
              </a:rPr>
              <a:t>DevSecOps</a:t>
            </a:r>
            <a:r>
              <a:rPr lang="tr">
                <a:solidFill>
                  <a:schemeClr val="dk1"/>
                </a:solidFill>
              </a:rPr>
              <a:t>: Kavram, DevOps’un yalpaladığı “güvenlik sonradan bakarız” durumuna tepki olarak doğuyor. “Secure by design” ve “Shift Left Security” gibi yaklaşımlarla beraber anılıyor.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“Shift Left” kavramını mutlaka açıkla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Güvenliği sadece pentest/son aşama olmaktan çıkarma vurgusu yap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SonarQube’ün bu diyagramdaki </a:t>
            </a:r>
            <a:r>
              <a:rPr b="1" lang="tr">
                <a:solidFill>
                  <a:schemeClr val="dk1"/>
                </a:solidFill>
              </a:rPr>
              <a:t>SAST kutusu</a:t>
            </a:r>
            <a:r>
              <a:rPr lang="tr">
                <a:solidFill>
                  <a:schemeClr val="dk1"/>
                </a:solidFill>
              </a:rPr>
              <a:t> olduğunu söyle → preview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Burada daha SonarQube detayına girme, sadece teaser bırak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9adc99227_0_3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9adc99227_0_3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“Build öncesi kırmızı ışık” benzetmesini mutlaka kullan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SAST ile </a:t>
            </a:r>
            <a:r>
              <a:rPr i="1" lang="tr">
                <a:solidFill>
                  <a:schemeClr val="dk1"/>
                </a:solidFill>
              </a:rPr>
              <a:t>run-time</a:t>
            </a:r>
            <a:r>
              <a:rPr lang="tr">
                <a:solidFill>
                  <a:schemeClr val="dk1"/>
                </a:solidFill>
              </a:rPr>
              <a:t>’da çalışan DAST farkına kısaca değin (detaya gerek yok)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Burada SonarQube ismini daha net oturt: “Bu kutu SonarQube” de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Bir cümle ile şunu söyle: “Bugünkü canlı demoda tam da bu pipeline’ı göstereceğim.”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a9adc99227_0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a9adc99227_0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Burada “büyük resmi” çizdiğini bil; devamında her kutuyu detaylandıracaksın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Issue türlerinden sadece isim olarak bahset, detayını Bölüm 2’ye bırak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VSCode SonarLint entegrasyonunun “geliştiricinin masasındaki SonarQube” gibi olduğunu söyle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9adc99227_0_4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9adc99227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Burada bir cümle: “Sunumun geri kalanı bu diyagramdaki kutuları tek tek açmak üzerine olacak.”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aa1076cb4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aa1076cb4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tr"/>
              <a:t>“Scanner çalıştıran taraf geliştirici değil, CI pipeline” vurgusu</a:t>
            </a:r>
            <a:br>
              <a:rPr lang="tr"/>
            </a:b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tr"/>
              <a:t>Database’in ağır olmadığını söyle (default olarak PostgreSQL önerilir)</a:t>
            </a:r>
            <a:br>
              <a:rPr lang="tr"/>
            </a:b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tr"/>
              <a:t>Server UI’nin aslında sadece frontend değil, Quality Gate motoru olduğunu vurgula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a33d2eec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a33d2eec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Vulnerability gerçek güvenlik açığıdır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a33d2eec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aa33d2eec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Security Hotspot “potansiyel risk”tir — manuel inceleme ister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Code Smell = kötü koku → temizlik için refactor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a33d2eec7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aa33d2eec7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Blocker hataların Quality Gate’i doğrudan çökerttiğini söyle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Security hotspot severity’si yoktur → manuel inceleme vardır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“Severity = Issue’nin aciliyeti” cümlesini mutlaka söyle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a33d2eec7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a33d2eec7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aa33d2eec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aa33d2eec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Quality Gate = kırmızı/yeşil trafik ışığı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“Bugs=0, Vulnerabilities=0” gibi şartlar verebileceğini söyle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Demo’da özel Quality Gate yapacağız (istersen)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a33d2eec7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aa33d2eec7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a33d2eec7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aa33d2eec7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a33d2eec7_0_1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aa33d2eec7_0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aa33d2eec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aa33d2eec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Akademik vurgu: “False positive yönetimi olgun SAST araçlarının temel özelliğidir.”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Hotspot'ın gerçek zafiyet olmadığını vurgula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Demo’da bir hotspot incelemesini göster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a33d2eec7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aa33d2eec7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“Burada ‘tek doğru yol budur’ demiyorum; 3 farklı entegrasyon modelini gösteriyorum”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Yöntem 1: Şu an senin kullandığın GitHub App modeli – bunu özellikle belirt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Yöntem 2: Klasik “CI’da scanner koş, token ile SonarQube’e gönder”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Yöntem 3: Öğrencilerin lokal makinede hızlı test yapabileceği yol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aa33d2eec7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aa33d2eec7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Özellikle </a:t>
            </a:r>
            <a:r>
              <a:rPr lang="tr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SONAR_HOST_URL</a:t>
            </a:r>
            <a:r>
              <a:rPr lang="tr">
                <a:solidFill>
                  <a:schemeClr val="dk1"/>
                </a:solidFill>
              </a:rPr>
              <a:t> ve </a:t>
            </a:r>
            <a:r>
              <a:rPr lang="tr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SONAR_TOKEN</a:t>
            </a:r>
            <a:r>
              <a:rPr lang="tr">
                <a:solidFill>
                  <a:schemeClr val="dk1"/>
                </a:solidFill>
              </a:rPr>
              <a:t>’ı vurgula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“Token projenin değil, SonarQube üzerindeki kullanıcı hesabının token’ı” diyebilirsin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Quality Gate sonucu alınmak istenirse </a:t>
            </a:r>
            <a:r>
              <a:rPr lang="tr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sonarsource/sonarqube-quality-gate-action</a:t>
            </a:r>
            <a:r>
              <a:rPr lang="tr">
                <a:solidFill>
                  <a:schemeClr val="dk1"/>
                </a:solidFill>
              </a:rPr>
              <a:t> gibi ek bir step daha eklenebileceğini söyleyebilirsin (detayına girmen şart değil)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Sen demo’da GitHub App kullandığını ama bu yöntemin de alternatif olduğunu söyle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aa33d2eec7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aa33d2eec7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aa33d2eec7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aa33d2eec7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“Bu yöntem özellikle tek seferlik analizlerde veya CI henüz yokken çok pratik”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“Aynı kurallar ve Quality Gate’ler yine geçerli; sadece tetik noktası CI yerine terminal oluyor”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“IDE’de SonarLint + lokal scanner ikilisi, CI öncesi hataları temizlemeye yardımcı olabilir”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aa33d2eec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aa33d2eec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“Badge, kaliteyi sadece SonarQube arayüzünde değil, repo üzerinde görünür kılar.”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“Takımlar için kalite standardını görünür kılmak DevSecOps kültürünün önemli bir parçasıdır.”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“Her push’ta analiz yenilenir → badge otomatik güncellenir.”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“Badge bir nevi projenin kalp atışı grafiği gibi: anlık durum gösterir.”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“Her metrik için ayrı badge var: bugs, vulnerabilities, code smells, coverage…”</a:t>
            </a:r>
            <a:br>
              <a:rPr lang="tr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/>
              <a:t>“Benim test repomda badge şu an muhtemelen kırmızı :)”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a33d2eec7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aa33d2eec7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Community → Senin şu an kullandığın sürüm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Cloud → “CI yazmadan push ile otomatik tetikleme” fikrini anlat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Enterprise → “Governance” kelimes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Branch analysis farkını mutlaka vurgula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“Bizim gibi bireysel geliştiriciler için Community fazlasıyla yeterli” cümlesi iyi gider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“Kurumsal firmalarda Enterprise tercih edilir” diye bağla</a:t>
            </a:r>
            <a:br>
              <a:rPr lang="tr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>
                <a:solidFill>
                  <a:schemeClr val="dk1"/>
                </a:solidFill>
              </a:rPr>
              <a:t>Cloud’ın </a:t>
            </a:r>
            <a:r>
              <a:rPr i="1" lang="tr">
                <a:solidFill>
                  <a:schemeClr val="dk1"/>
                </a:solidFill>
              </a:rPr>
              <a:t>kurulum yok</a:t>
            </a:r>
            <a:r>
              <a:rPr lang="tr">
                <a:solidFill>
                  <a:schemeClr val="dk1"/>
                </a:solidFill>
              </a:rPr>
              <a:t> artısını belirt ama </a:t>
            </a:r>
            <a:r>
              <a:rPr i="1" lang="tr">
                <a:solidFill>
                  <a:schemeClr val="dk1"/>
                </a:solidFill>
              </a:rPr>
              <a:t>özelleştirme kısıtlı</a:t>
            </a:r>
            <a:r>
              <a:rPr lang="tr">
                <a:solidFill>
                  <a:schemeClr val="dk1"/>
                </a:solidFill>
              </a:rPr>
              <a:t> olduğunu da ekle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aa33d2eec7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aa33d2eec7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aa33d2eec7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aa33d2eec7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a33d2eec7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aa33d2eec7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aa33d2eec7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aa33d2eec7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 rot="10800000">
            <a:off x="4226100" y="2933550"/>
            <a:ext cx="691800" cy="388500"/>
          </a:xfrm>
          <a:prstGeom prst="triangle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-25" y="0"/>
            <a:ext cx="9144000" cy="3124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 txBox="1"/>
          <p:nvPr>
            <p:ph type="ctrTitle"/>
          </p:nvPr>
        </p:nvSpPr>
        <p:spPr>
          <a:xfrm>
            <a:off x="411175" y="644300"/>
            <a:ext cx="8282400" cy="210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411175" y="3398250"/>
            <a:ext cx="8282400" cy="126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swald"/>
              <a:buNone/>
              <a:defRPr sz="3600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Oswald"/>
              <a:buNone/>
              <a:defRPr sz="3600"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0" y="1567350"/>
            <a:ext cx="9144000" cy="200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430800" y="1889700"/>
            <a:ext cx="8282400" cy="151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29200" y="1275577"/>
            <a:ext cx="6141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29200" y="1275577"/>
            <a:ext cx="6141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27" name="Google Shape;27;p5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311700" y="1468825"/>
            <a:ext cx="39999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832400" y="1468825"/>
            <a:ext cx="39999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18675" y="1457787"/>
            <a:ext cx="6141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1618204"/>
            <a:ext cx="2808000" cy="29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7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490250" y="528900"/>
            <a:ext cx="5678100" cy="408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175"/>
            <a:ext cx="4572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0"/>
            <a:ext cx="5772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45" name="Google Shape;45;p9"/>
          <p:cNvSpPr txBox="1"/>
          <p:nvPr>
            <p:ph type="title"/>
          </p:nvPr>
        </p:nvSpPr>
        <p:spPr>
          <a:xfrm>
            <a:off x="265500" y="1078750"/>
            <a:ext cx="4045200" cy="1789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" type="subTitle"/>
          </p:nvPr>
        </p:nvSpPr>
        <p:spPr>
          <a:xfrm>
            <a:off x="265500" y="29214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Oswald"/>
              <a:buNone/>
              <a:defRPr sz="2100"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53;p11"/>
          <p:cNvCxnSpPr/>
          <p:nvPr/>
        </p:nvCxnSpPr>
        <p:spPr>
          <a:xfrm>
            <a:off x="413275" y="2988275"/>
            <a:ext cx="9105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lgDash"/>
            <a:round/>
            <a:headEnd len="sm" w="sm" type="none"/>
            <a:tailEnd len="sm" w="sm" type="none"/>
          </a:ln>
        </p:spPr>
      </p:cxnSp>
      <p:sp>
        <p:nvSpPr>
          <p:cNvPr id="54" name="Google Shape;54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dern-writer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-56678" y="4914413"/>
            <a:ext cx="8832300" cy="2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 sz="7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28/11/2025 | 20259257001 Çağatay Üresin | Sivas Cumhuriyet Üniversitesi | Fen Bilimleri Enstitüsü | Bilgisayar Mühendisliği ABD | Yazılım Güvenliği ve Analizi</a:t>
            </a:r>
            <a:endParaRPr sz="700">
              <a:solidFill>
                <a:schemeClr val="dk2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idx="1" type="subTitle"/>
          </p:nvPr>
        </p:nvSpPr>
        <p:spPr>
          <a:xfrm>
            <a:off x="411175" y="3398250"/>
            <a:ext cx="8282400" cy="126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20259257001</a:t>
            </a:r>
            <a:br>
              <a:rPr lang="tr"/>
            </a:br>
            <a:r>
              <a:rPr lang="tr"/>
              <a:t>Çağatay ÜRESİN</a:t>
            </a:r>
            <a:endParaRPr/>
          </a:p>
        </p:txBody>
      </p:sp>
      <p:sp>
        <p:nvSpPr>
          <p:cNvPr id="64" name="Google Shape;64;p13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65" name="Google Shape;6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6950" y="-1437750"/>
            <a:ext cx="5790100" cy="57901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571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Yazılım Güvenliği, DevSecOps ve SonarQube’e Giriş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Yazılım güvenliğinin önemi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DevOps → DevSecOps dönüşümü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Statik kod analizi (SAST) kavramı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Sunumun hedefi: SonarQube ile gerçek bir DevSecOps örneği</a:t>
            </a:r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50" y="3074250"/>
            <a:ext cx="9038724" cy="133057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4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DevOps Nedir?</a:t>
            </a:r>
            <a:endParaRPr/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1468825"/>
            <a:ext cx="42603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Development + Operations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Amaç: Hızlı, tekrarlanabilir ve otomatik teslimat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Sürekli entegrasyon (CI), sürekli teslim (CD)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Güvenlik genelde sonradan ekleniyor (eksik nokta)</a:t>
            </a:r>
            <a:endParaRPr/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0150" y="1604175"/>
            <a:ext cx="3669975" cy="208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DevSecOps: Güvenliği Sürece Gömme</a:t>
            </a:r>
            <a:endParaRPr/>
          </a:p>
        </p:txBody>
      </p:sp>
      <p:sp>
        <p:nvSpPr>
          <p:cNvPr id="87" name="Google Shape;87;p16"/>
          <p:cNvSpPr txBox="1"/>
          <p:nvPr>
            <p:ph idx="1" type="body"/>
          </p:nvPr>
        </p:nvSpPr>
        <p:spPr>
          <a:xfrm>
            <a:off x="311700" y="1468825"/>
            <a:ext cx="40038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Development + Security + Operations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Güvenlik: Sürecin başından sonuna kadar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Otomatik güvenlik kontrolleri (SAST, DAST, Dependency Scan vb.)</a:t>
            </a:r>
            <a:br>
              <a:rPr lang="tr"/>
            </a:br>
            <a:r>
              <a:rPr lang="tr"/>
              <a:t>“Shift Left” yaklaşımı: Hataları olabildiğince erken yakala</a:t>
            </a:r>
            <a:endParaRPr/>
          </a:p>
        </p:txBody>
      </p:sp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89" name="Google Shape;8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5575" y="1549075"/>
            <a:ext cx="4705574" cy="25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Statik Kod Analizi (SAST) Nedir ve Neden Önemlidir?</a:t>
            </a:r>
            <a:endParaRPr/>
          </a:p>
        </p:txBody>
      </p:sp>
      <p:pic>
        <p:nvPicPr>
          <p:cNvPr id="95" name="Google Shape;9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29044"/>
            <a:ext cx="8520600" cy="129803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7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Kaynak kod üzerinde çalışan analiz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Kod çalışmadan önce potansiyel bug/güvenlik açığı tespiti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Build öncesi kırmızı ışık: Quality Gate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Avantajlar: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tr"/>
              <a:t>Erken uyarı → düşük maliyet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tr"/>
              <a:t>Otomasyon → tutarlı kalite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tr"/>
              <a:t>Güvenlik ekiplerine yük azalması</a:t>
            </a:r>
            <a:endParaRPr/>
          </a:p>
        </p:txBody>
      </p:sp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SonarQube: DevSecOps Zincirindeki Yeri</a:t>
            </a:r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SonarQube = SAST + Code Quality Platform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Hem güvenlik hem kalite metrikleri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IDE, CI/CD ve Dashboard entegrasyonları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Bu sunumda neleri göstereceğiz: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tr"/>
              <a:t>GitHub Actions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tr"/>
              <a:t>Quality Gate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tr"/>
              <a:t>Issue türleri (Bug, Vulnerability, Code Smell, Security Hotspot)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tr"/>
              <a:t>VSCode SonarLint entegrasyonu</a:t>
            </a:r>
            <a:endParaRPr/>
          </a:p>
        </p:txBody>
      </p:sp>
      <p:sp>
        <p:nvSpPr>
          <p:cNvPr id="104" name="Google Shape;104;p18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SonarQube: DevSecOps Zincirindeki Yeri</a:t>
            </a:r>
            <a:endParaRPr/>
          </a:p>
        </p:txBody>
      </p:sp>
      <p:sp>
        <p:nvSpPr>
          <p:cNvPr id="110" name="Google Shape;110;p19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79813"/>
            <a:ext cx="9143999" cy="1965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 Mimarisi ve Temel Bileşenler</a:t>
            </a:r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tr"/>
              <a:t>Server:</a:t>
            </a:r>
            <a:r>
              <a:rPr lang="tr"/>
              <a:t> Sonuçların tutulduğu merkez, UI, Quality Gate motoru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tr"/>
              <a:t>Scanner:</a:t>
            </a:r>
            <a:r>
              <a:rPr lang="tr"/>
              <a:t> Kodun analiz edilip server’a gönderilmesini sağlar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tr"/>
              <a:t>Database:</a:t>
            </a:r>
            <a:r>
              <a:rPr lang="tr"/>
              <a:t> Sonuçlar ve history burada saklanır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tr"/>
              <a:t>UI Dashboard:</a:t>
            </a:r>
            <a:r>
              <a:rPr lang="tr"/>
              <a:t> Proje kalitesi, trendler, issue yönetimi</a:t>
            </a:r>
            <a:endParaRPr/>
          </a:p>
        </p:txBody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19" name="Google Shape;11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6650" y="3492000"/>
            <a:ext cx="6290700" cy="136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 Issue Türleri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1468825"/>
            <a:ext cx="8520600" cy="60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tr"/>
              <a:t>Bug:</a:t>
            </a:r>
            <a:r>
              <a:rPr lang="tr"/>
              <a:t> Mantıksal hatalar</a:t>
            </a:r>
            <a:endParaRPr/>
          </a:p>
        </p:txBody>
      </p:sp>
      <p:sp>
        <p:nvSpPr>
          <p:cNvPr id="126" name="Google Shape;126;p21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27" name="Google Shape;127;p21"/>
          <p:cNvPicPr preferRelativeResize="0"/>
          <p:nvPr/>
        </p:nvPicPr>
        <p:blipFill rotWithShape="1">
          <a:blip r:embed="rId3">
            <a:alphaModFix/>
          </a:blip>
          <a:srcRect b="0" l="0" r="27140" t="0"/>
          <a:stretch/>
        </p:blipFill>
        <p:spPr>
          <a:xfrm>
            <a:off x="1887450" y="4018097"/>
            <a:ext cx="5369100" cy="6013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1"/>
          <p:cNvSpPr txBox="1"/>
          <p:nvPr>
            <p:ph idx="1" type="body"/>
          </p:nvPr>
        </p:nvSpPr>
        <p:spPr>
          <a:xfrm>
            <a:off x="236500" y="3453988"/>
            <a:ext cx="4221300" cy="45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tr"/>
              <a:t>Vulnerability:</a:t>
            </a:r>
            <a:r>
              <a:rPr lang="tr"/>
              <a:t> Güvenlik açığı</a:t>
            </a:r>
            <a:endParaRPr/>
          </a:p>
        </p:txBody>
      </p:sp>
      <p:pic>
        <p:nvPicPr>
          <p:cNvPr id="129" name="Google Shape;12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3388" y="2010167"/>
            <a:ext cx="6437225" cy="137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 Issue Türleri</a:t>
            </a:r>
            <a:endParaRPr/>
          </a:p>
        </p:txBody>
      </p:sp>
      <p:sp>
        <p:nvSpPr>
          <p:cNvPr id="135" name="Google Shape;135;p22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36" name="Google Shape;13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1325" y="1910007"/>
            <a:ext cx="4221350" cy="1801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2"/>
          <p:cNvSpPr txBox="1"/>
          <p:nvPr>
            <p:ph idx="1" type="body"/>
          </p:nvPr>
        </p:nvSpPr>
        <p:spPr>
          <a:xfrm>
            <a:off x="311700" y="1468825"/>
            <a:ext cx="8520600" cy="4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tr"/>
              <a:t>Code Smell:</a:t>
            </a:r>
            <a:r>
              <a:rPr lang="tr"/>
              <a:t> Kötü tasarım / düşük kalite</a:t>
            </a:r>
            <a:endParaRPr/>
          </a:p>
        </p:txBody>
      </p:sp>
      <p:sp>
        <p:nvSpPr>
          <p:cNvPr id="138" name="Google Shape;138;p22"/>
          <p:cNvSpPr txBox="1"/>
          <p:nvPr>
            <p:ph idx="1" type="body"/>
          </p:nvPr>
        </p:nvSpPr>
        <p:spPr>
          <a:xfrm>
            <a:off x="311700" y="3756913"/>
            <a:ext cx="8520600" cy="51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tr"/>
              <a:t>Security Hotspot:</a:t>
            </a:r>
            <a:r>
              <a:rPr lang="tr"/>
              <a:t> Güvenlik açısından incelenmesi gereken yer</a:t>
            </a:r>
            <a:endParaRPr/>
          </a:p>
        </p:txBody>
      </p:sp>
      <p:pic>
        <p:nvPicPr>
          <p:cNvPr id="139" name="Google Shape;13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23638" y="4198028"/>
            <a:ext cx="5896732" cy="62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Issue Severity (Önem Dereceleri)</a:t>
            </a:r>
            <a:endParaRPr/>
          </a:p>
        </p:txBody>
      </p:sp>
      <p:sp>
        <p:nvSpPr>
          <p:cNvPr id="145" name="Google Shape;145;p23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</a:t>
            </a:r>
            <a:r>
              <a:rPr lang="tr"/>
              <a:t>onarQube severity scale: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tr"/>
              <a:t>Blocker:</a:t>
            </a:r>
            <a:r>
              <a:rPr lang="tr"/>
              <a:t> Acil çözülmesi gereken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tr"/>
              <a:t>Critical:</a:t>
            </a:r>
            <a:r>
              <a:rPr lang="tr"/>
              <a:t> Ciddi</a:t>
            </a:r>
            <a:r>
              <a:rPr lang="tr"/>
              <a:t> </a:t>
            </a:r>
            <a:r>
              <a:rPr lang="tr"/>
              <a:t>etki bırakır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tr"/>
              <a:t>Major:</a:t>
            </a:r>
            <a:r>
              <a:rPr lang="tr"/>
              <a:t> Önemli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tr"/>
              <a:t>Minor:</a:t>
            </a:r>
            <a:r>
              <a:rPr lang="tr"/>
              <a:t> Küçük etki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tr"/>
              <a:t>Info:</a:t>
            </a:r>
            <a:r>
              <a:rPr lang="tr"/>
              <a:t> Öneri / yol gösterici</a:t>
            </a:r>
            <a:endParaRPr/>
          </a:p>
        </p:txBody>
      </p:sp>
      <p:sp>
        <p:nvSpPr>
          <p:cNvPr id="146" name="Google Shape;146;p23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52" name="Google Shape;15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14613" y="556475"/>
            <a:ext cx="3714750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23975" y="3273100"/>
            <a:ext cx="6296025" cy="131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Quality Gate Mantığı ve Önemi</a:t>
            </a:r>
            <a:endParaRPr/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Kalite ve güvenlik kriterlerini bir araya getirir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Build aşamasını geçip geçmeyeceğine karar verir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Varsayılan Qualit</a:t>
            </a:r>
            <a:r>
              <a:rPr lang="tr"/>
              <a:t>y</a:t>
            </a:r>
            <a:r>
              <a:rPr lang="tr"/>
              <a:t> Gate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Custom Quality Gate oluşturulabilir</a:t>
            </a:r>
            <a:endParaRPr/>
          </a:p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61" name="Google Shape;16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275" y="3061795"/>
            <a:ext cx="6067425" cy="165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67" name="Google Shape;16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06475"/>
            <a:ext cx="8839200" cy="29305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Rules: Kural Motoru ve Analiz Mantığı</a:t>
            </a:r>
            <a:endParaRPr/>
          </a:p>
        </p:txBody>
      </p:sp>
      <p:sp>
        <p:nvSpPr>
          <p:cNvPr id="173" name="Google Shape;173;p27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Kurallar → SonarQube’ün analiz motorunun temel yapı taşı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Dil başına (Java, Python, JS vb.) binlerce hazır kural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Güvenlik kuralları → OWASP, CWE, SANS referansları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Quality Profile → Bir projeye uygulanan kural seti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Kurallar etkin/pasif yapılabilir → özelleştirilebilir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Her rule: severity, type, remediation cost içerir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Yeni hatalar için “New Code” kavramı</a:t>
            </a:r>
            <a:endParaRPr/>
          </a:p>
        </p:txBody>
      </p:sp>
      <p:sp>
        <p:nvSpPr>
          <p:cNvPr id="174" name="Google Shape;174;p27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80" name="Google Shape;18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98463"/>
            <a:ext cx="8839204" cy="3946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Issue Yönetimi: Assign, False Positive, Won’t Fix</a:t>
            </a:r>
            <a:endParaRPr/>
          </a:p>
        </p:txBody>
      </p:sp>
      <p:sp>
        <p:nvSpPr>
          <p:cNvPr id="186" name="Google Shape;186;p29"/>
          <p:cNvSpPr txBox="1"/>
          <p:nvPr>
            <p:ph idx="1" type="body"/>
          </p:nvPr>
        </p:nvSpPr>
        <p:spPr>
          <a:xfrm>
            <a:off x="311700" y="1468825"/>
            <a:ext cx="45612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Kullanıcıya atama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Hatanın açıklaması / kanıtları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False Positive → Gerçek hata değil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Won’t Fix → Teknik olarak doğru ama çözülmeyecek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Security Hotspot → Manuel inceleme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9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188" name="Google Shape;18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66338" y="1042975"/>
            <a:ext cx="3419475" cy="258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49172" y="3699425"/>
            <a:ext cx="2453825" cy="127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DevOps Sürecinde SonarQube Entegrasyonu: Üç Yol</a:t>
            </a:r>
            <a:endParaRPr/>
          </a:p>
        </p:txBody>
      </p:sp>
      <p:sp>
        <p:nvSpPr>
          <p:cNvPr id="195" name="Google Shape;195;p30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tr" sz="2000"/>
              <a:t>Yöntem 1 – Uygulama / OAuth Entegrasyonu</a:t>
            </a:r>
            <a:endParaRPr sz="20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tr" sz="1600"/>
              <a:t>Örn: GitHub App, GitLab Application, Bitbucket App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tr" sz="1600"/>
              <a:t>SonarQube projenizi direkt VCS ile bağlar</a:t>
            </a:r>
            <a:endParaRPr sz="16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tr" sz="2000"/>
              <a:t>Yöntem 2 – CI Pipeline + SonarScanner</a:t>
            </a:r>
            <a:endParaRPr sz="20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tr" sz="1600"/>
              <a:t>sonar-project.properties dosyası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tr" sz="1600"/>
              <a:t>CI YAML (GitHub Actions, GitLab CI, Jenkins Pipeline vs.)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tr" sz="1600"/>
              <a:t>Token &amp; değişkenlerle çalışır</a:t>
            </a:r>
            <a:endParaRPr sz="16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tr" sz="2000"/>
              <a:t>Yöntem 3 – Lokal SonarScanner</a:t>
            </a:r>
            <a:endParaRPr sz="20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tr" sz="1600"/>
              <a:t>Geliştirici kendi makinesinden analiz tetikler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tr" sz="1600"/>
              <a:t>Özellikle PoC / deneme / offline ortamlar için</a:t>
            </a:r>
            <a:endParaRPr sz="1600"/>
          </a:p>
        </p:txBody>
      </p:sp>
      <p:sp>
        <p:nvSpPr>
          <p:cNvPr id="196" name="Google Shape;196;p30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Yöntem 2: CI Pipeline + SonarScanner</a:t>
            </a:r>
            <a:endParaRPr/>
          </a:p>
        </p:txBody>
      </p:sp>
      <p:sp>
        <p:nvSpPr>
          <p:cNvPr id="202" name="Google Shape;202;p31"/>
          <p:cNvSpPr txBox="1"/>
          <p:nvPr>
            <p:ph idx="1" type="body"/>
          </p:nvPr>
        </p:nvSpPr>
        <p:spPr>
          <a:xfrm>
            <a:off x="311700" y="1468825"/>
            <a:ext cx="81855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Proje kökünde sonar-project.properties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CI içinde SONAR_TOKEN gibi secret değişken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Pipeline adımı → SonarScanner çağırır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Build aşamasına Quality Gate sonucu bağlanabilir</a:t>
            </a:r>
            <a:endParaRPr/>
          </a:p>
        </p:txBody>
      </p:sp>
      <p:sp>
        <p:nvSpPr>
          <p:cNvPr id="203" name="Google Shape;203;p31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209" name="Google Shape;20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0800" y="103550"/>
            <a:ext cx="4991100" cy="475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400" y="1185663"/>
            <a:ext cx="3746550" cy="277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3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Yöntem 3: Lokal SonarScanner ile Analiz</a:t>
            </a:r>
            <a:endParaRPr/>
          </a:p>
        </p:txBody>
      </p:sp>
      <p:sp>
        <p:nvSpPr>
          <p:cNvPr id="216" name="Google Shape;216;p33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Geliştiricinin kendi makinesine SonarScanner kurması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Komut satırından analiz tetikleme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sonar-project.properties yine kullanılır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Hızlı PoC, test, offline ortamlar için ideal</a:t>
            </a:r>
            <a:endParaRPr/>
          </a:p>
        </p:txBody>
      </p:sp>
      <p:sp>
        <p:nvSpPr>
          <p:cNvPr id="217" name="Google Shape;217;p33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218" name="Google Shape;21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9190" y="3002127"/>
            <a:ext cx="5445612" cy="1762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Quality Gate &amp; Code Quality Badgeleri</a:t>
            </a:r>
            <a:endParaRPr/>
          </a:p>
        </p:txBody>
      </p:sp>
      <p:sp>
        <p:nvSpPr>
          <p:cNvPr id="224" name="Google Shape;224;p34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SonarQube; projenin Quality Gate durumunu dışa aktarabilir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README.md üzerine otomatik güncellenen badge eklenebilir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Badge → “Passed / Failed” durumunu gerçek zamanlı gösterir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Takım içi standartlaştırma ve şeffaflık sağlar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CI, PR, repo ana sayfası vb. yerlerde çok kullanılır</a:t>
            </a:r>
            <a:endParaRPr/>
          </a:p>
        </p:txBody>
      </p:sp>
      <p:sp>
        <p:nvSpPr>
          <p:cNvPr id="225" name="Google Shape;225;p34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  <p:pic>
        <p:nvPicPr>
          <p:cNvPr id="226" name="Google Shape;22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1050" y="4042363"/>
            <a:ext cx="7381875" cy="63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5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 Sürümleri: Community</a:t>
            </a:r>
            <a:endParaRPr/>
          </a:p>
        </p:txBody>
      </p:sp>
      <p:sp>
        <p:nvSpPr>
          <p:cNvPr id="232" name="Google Shape;232;p35"/>
          <p:cNvSpPr txBox="1"/>
          <p:nvPr>
            <p:ph idx="1" type="body"/>
          </p:nvPr>
        </p:nvSpPr>
        <p:spPr>
          <a:xfrm>
            <a:off x="401950" y="1619250"/>
            <a:ext cx="80652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Açık kaynak &amp; tamamen ücretsiz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Sınırlı dil desteği (ama popüler diller mevcut)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Temel SAST + Quality Gate + Issue yönetimi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Local/On-prem kurulum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Gelişmiş güvenlik kuralları sınırlı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Portföy/çoklu proje yönetimi yok</a:t>
            </a:r>
            <a:endParaRPr/>
          </a:p>
        </p:txBody>
      </p:sp>
      <p:sp>
        <p:nvSpPr>
          <p:cNvPr id="233" name="Google Shape;233;p35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6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 Sürümleri: Cloud</a:t>
            </a:r>
            <a:endParaRPr/>
          </a:p>
        </p:txBody>
      </p:sp>
      <p:sp>
        <p:nvSpPr>
          <p:cNvPr id="239" name="Google Shape;239;p36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Tamamen bulut üzerinde çalışır, kurulum yok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Public repolar ücretsiz, private repolar ücretli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GitHub App entegrasyonu doğrudan hazır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CI pipeline gerektirmez (native integration)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Enterprise özelliklerinden bazılarını içermez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Performans/scale yönetimini cloud kendisi yapar</a:t>
            </a:r>
            <a:endParaRPr/>
          </a:p>
        </p:txBody>
      </p:sp>
      <p:sp>
        <p:nvSpPr>
          <p:cNvPr id="240" name="Google Shape;240;p36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7"/>
          <p:cNvSpPr txBox="1"/>
          <p:nvPr>
            <p:ph type="title"/>
          </p:nvPr>
        </p:nvSpPr>
        <p:spPr>
          <a:xfrm>
            <a:off x="311700" y="372500"/>
            <a:ext cx="8520600" cy="73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SonarQube Sürümleri: Enterprise</a:t>
            </a:r>
            <a:endParaRPr/>
          </a:p>
        </p:txBody>
      </p:sp>
      <p:sp>
        <p:nvSpPr>
          <p:cNvPr id="246" name="Google Shape;246;p37"/>
          <p:cNvSpPr txBox="1"/>
          <p:nvPr>
            <p:ph idx="1" type="body"/>
          </p:nvPr>
        </p:nvSpPr>
        <p:spPr>
          <a:xfrm>
            <a:off x="311700" y="1468825"/>
            <a:ext cx="8520600" cy="309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Portföy yönetimi (Portfolio &amp; Governance)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Çoklu proje kalite metriklerinin merkezi yönetimi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Gelişmiş güvenlik kuralları (OWASP, CWE, HIPAA vb.)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Branch &amp; PR analysis (Community’de sınırlı)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Dökümanlaşmış güvenlik raporları (audit-ready)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Daha fazla dil için derin kurallar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Büyük şirketler için scale-out &amp; dağıtık analiz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tr"/>
              <a:t>Project leak period yönetimi</a:t>
            </a:r>
            <a:endParaRPr/>
          </a:p>
        </p:txBody>
      </p:sp>
      <p:sp>
        <p:nvSpPr>
          <p:cNvPr id="247" name="Google Shape;247;p37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8"/>
          <p:cNvSpPr txBox="1"/>
          <p:nvPr>
            <p:ph type="title"/>
          </p:nvPr>
        </p:nvSpPr>
        <p:spPr>
          <a:xfrm>
            <a:off x="430800" y="1889700"/>
            <a:ext cx="8282400" cy="151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DEMO</a:t>
            </a:r>
            <a:endParaRPr/>
          </a:p>
        </p:txBody>
      </p:sp>
      <p:sp>
        <p:nvSpPr>
          <p:cNvPr id="253" name="Google Shape;253;p38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9"/>
          <p:cNvSpPr txBox="1"/>
          <p:nvPr>
            <p:ph type="title"/>
          </p:nvPr>
        </p:nvSpPr>
        <p:spPr>
          <a:xfrm>
            <a:off x="430800" y="1889700"/>
            <a:ext cx="8282400" cy="151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"/>
              <a:t>SON</a:t>
            </a:r>
            <a:endParaRPr/>
          </a:p>
        </p:txBody>
      </p:sp>
      <p:sp>
        <p:nvSpPr>
          <p:cNvPr id="259" name="Google Shape;259;p39"/>
          <p:cNvSpPr txBox="1"/>
          <p:nvPr>
            <p:ph idx="12" type="sldNum"/>
          </p:nvPr>
        </p:nvSpPr>
        <p:spPr>
          <a:xfrm>
            <a:off x="8585813" y="4854504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dern Yazar - Altbilgili">
  <a:themeElements>
    <a:clrScheme name="Modern Writer">
      <a:dk1>
        <a:srgbClr val="E91D63"/>
      </a:dk1>
      <a:lt1>
        <a:srgbClr val="FFFFFF"/>
      </a:lt1>
      <a:dk2>
        <a:srgbClr val="424242"/>
      </a:dk2>
      <a:lt2>
        <a:srgbClr val="999999"/>
      </a:lt2>
      <a:accent1>
        <a:srgbClr val="607D8B"/>
      </a:accent1>
      <a:accent2>
        <a:srgbClr val="673AB7"/>
      </a:accent2>
      <a:accent3>
        <a:srgbClr val="9C26B0"/>
      </a:accent3>
      <a:accent4>
        <a:srgbClr val="0090AC"/>
      </a:accent4>
      <a:accent5>
        <a:srgbClr val="00838F"/>
      </a:accent5>
      <a:accent6>
        <a:srgbClr val="F8E71C"/>
      </a:accent6>
      <a:hlink>
        <a:srgbClr val="00838F"/>
      </a:hlink>
      <a:folHlink>
        <a:srgbClr val="00838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